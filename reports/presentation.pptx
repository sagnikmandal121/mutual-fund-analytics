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Fraunces" charset="1" panose="00000000000000000000"/>
      <p:regular r:id="rId19"/>
    </p:embeddedFont>
    <p:embeddedFont>
      <p:font typeface="Arimo" charset="1" panose="020B0604020202020204"/>
      <p:regular r:id="rId20"/>
    </p:embeddedFont>
    <p:embeddedFont>
      <p:font typeface="Arimo Bold" charset="1" panose="020B07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9.pn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50238" y="6449768"/>
            <a:ext cx="9445523" cy="38100"/>
            <a:chOff x="0" y="0"/>
            <a:chExt cx="12594031" cy="5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94082" cy="50800"/>
            </a:xfrm>
            <a:custGeom>
              <a:avLst/>
              <a:gdLst/>
              <a:ahLst/>
              <a:cxnLst/>
              <a:rect r="r" b="b" t="t" l="l"/>
              <a:pathLst>
                <a:path h="50800" w="125940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568682" y="0"/>
                  </a:lnTo>
                  <a:cubicBezTo>
                    <a:pt x="12582651" y="0"/>
                    <a:pt x="12594082" y="11430"/>
                    <a:pt x="12594082" y="25400"/>
                  </a:cubicBezTo>
                  <a:cubicBezTo>
                    <a:pt x="12594082" y="39370"/>
                    <a:pt x="12582651" y="50800"/>
                    <a:pt x="12568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405449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24062" y="8926601"/>
            <a:ext cx="3086100" cy="2036826"/>
            <a:chOff x="0" y="0"/>
            <a:chExt cx="635000" cy="419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635000" cy="40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850238" y="2936529"/>
            <a:ext cx="9445523" cy="179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Mutual Fund Analytics Platform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50238" y="5047955"/>
            <a:ext cx="9445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Building an End-to-End Investment Intelligence System for the Indian Mutual Fund Industry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50238" y="6772875"/>
            <a:ext cx="103599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Sagnik Mandal</a:t>
            </a: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· Bluestock Capstone Project ·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779707"/>
            <a:ext cx="1085107" cy="220856"/>
            <a:chOff x="0" y="0"/>
            <a:chExt cx="1446809" cy="2944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6911" cy="294513"/>
            </a:xfrm>
            <a:custGeom>
              <a:avLst/>
              <a:gdLst/>
              <a:ahLst/>
              <a:cxnLst/>
              <a:rect r="r" b="b" t="t" l="l"/>
              <a:pathLst>
                <a:path h="294513" w="1446911">
                  <a:moveTo>
                    <a:pt x="0" y="136144"/>
                  </a:moveTo>
                  <a:cubicBezTo>
                    <a:pt x="0" y="60960"/>
                    <a:pt x="60960" y="0"/>
                    <a:pt x="136144" y="0"/>
                  </a:cubicBezTo>
                  <a:lnTo>
                    <a:pt x="1310767" y="0"/>
                  </a:lnTo>
                  <a:cubicBezTo>
                    <a:pt x="1385951" y="0"/>
                    <a:pt x="1446911" y="60960"/>
                    <a:pt x="1446911" y="136144"/>
                  </a:cubicBezTo>
                  <a:lnTo>
                    <a:pt x="1446911" y="158369"/>
                  </a:lnTo>
                  <a:cubicBezTo>
                    <a:pt x="1446911" y="233553"/>
                    <a:pt x="1385951" y="294513"/>
                    <a:pt x="1310767" y="294513"/>
                  </a:cubicBezTo>
                  <a:lnTo>
                    <a:pt x="136144" y="294513"/>
                  </a:lnTo>
                  <a:cubicBezTo>
                    <a:pt x="60960" y="294513"/>
                    <a:pt x="0" y="233553"/>
                    <a:pt x="0" y="158369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7220" y="812597"/>
            <a:ext cx="1829543" cy="14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"/>
              </a:lnSpc>
            </a:pPr>
            <a:r>
              <a:rPr lang="en-US" sz="8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THE CHALLENGE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019327"/>
            <a:ext cx="1630352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The Indian Mutual Fund Industry: Scale Without Intelligence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1558976"/>
            <a:ext cx="17217923" cy="18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India's mutual fund industry has crossed </a:t>
            </a:r>
            <a:r>
              <a:rPr lang="en-US" sz="1100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₹81 lakh crore in AUM</a:t>
            </a:r>
            <a:r>
              <a:rPr lang="en-US" sz="1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— yet retail investors lack integrated analytics, risk tools, and explainable recommendations.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238" y="1907381"/>
            <a:ext cx="7978826" cy="7978826"/>
            <a:chOff x="0" y="0"/>
            <a:chExt cx="10638434" cy="10638434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0638409" cy="10638409"/>
            </a:xfrm>
            <a:custGeom>
              <a:avLst/>
              <a:gdLst/>
              <a:ahLst/>
              <a:cxnLst/>
              <a:rect r="r" b="b" t="t" l="l"/>
              <a:pathLst>
                <a:path h="10638409" w="10638409">
                  <a:moveTo>
                    <a:pt x="0" y="0"/>
                  </a:moveTo>
                  <a:lnTo>
                    <a:pt x="10638409" y="0"/>
                  </a:lnTo>
                  <a:lnTo>
                    <a:pt x="10638409" y="10638409"/>
                  </a:lnTo>
                  <a:lnTo>
                    <a:pt x="0" y="10638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326461" y="5574506"/>
            <a:ext cx="7978826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Platform Objective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26461" y="5857284"/>
            <a:ext cx="7978826" cy="35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Build a unified analytics platform integrating ETL pipelines, performance analytics, investor intelligence, risk modeling, and an explainable recommendation engine.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5671321" y="8709058"/>
            <a:ext cx="3086100" cy="2036826"/>
            <a:chOff x="0" y="0"/>
            <a:chExt cx="635000" cy="419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635000" cy="40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794890"/>
            <a:ext cx="1443628" cy="336652"/>
            <a:chOff x="0" y="0"/>
            <a:chExt cx="1924837" cy="4488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4812" cy="448818"/>
            </a:xfrm>
            <a:custGeom>
              <a:avLst/>
              <a:gdLst/>
              <a:ahLst/>
              <a:cxnLst/>
              <a:rect r="r" b="b" t="t" l="l"/>
              <a:pathLst>
                <a:path h="448818" w="1924812">
                  <a:moveTo>
                    <a:pt x="0" y="191389"/>
                  </a:moveTo>
                  <a:cubicBezTo>
                    <a:pt x="0" y="85725"/>
                    <a:pt x="85725" y="0"/>
                    <a:pt x="191389" y="0"/>
                  </a:cubicBezTo>
                  <a:lnTo>
                    <a:pt x="1733423" y="0"/>
                  </a:lnTo>
                  <a:cubicBezTo>
                    <a:pt x="1839087" y="0"/>
                    <a:pt x="1924812" y="85725"/>
                    <a:pt x="1924812" y="191389"/>
                  </a:cubicBezTo>
                  <a:lnTo>
                    <a:pt x="1924812" y="257429"/>
                  </a:lnTo>
                  <a:cubicBezTo>
                    <a:pt x="1924812" y="363093"/>
                    <a:pt x="1839087" y="448818"/>
                    <a:pt x="1733423" y="448818"/>
                  </a:cubicBezTo>
                  <a:lnTo>
                    <a:pt x="191389" y="448818"/>
                  </a:lnTo>
                  <a:cubicBezTo>
                    <a:pt x="85725" y="448818"/>
                    <a:pt x="0" y="363220"/>
                    <a:pt x="0" y="257429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11748" y="816473"/>
            <a:ext cx="2119017" cy="25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1"/>
              </a:lnSpc>
            </a:pPr>
            <a:r>
              <a:rPr lang="en-US" sz="1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168451"/>
            <a:ext cx="16303523" cy="642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End-to-End Platform Architecture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2020643"/>
            <a:ext cx="16303523" cy="7042252"/>
            <a:chOff x="0" y="0"/>
            <a:chExt cx="21738031" cy="9389669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1738082" cy="9389618"/>
            </a:xfrm>
            <a:custGeom>
              <a:avLst/>
              <a:gdLst/>
              <a:ahLst/>
              <a:cxnLst/>
              <a:rect r="r" b="b" t="t" l="l"/>
              <a:pathLst>
                <a:path h="9389618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9389618"/>
                  </a:lnTo>
                  <a:lnTo>
                    <a:pt x="0" y="9389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4" r="0" b="-3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882658" y="6948049"/>
            <a:ext cx="2420798" cy="450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ETL Pipeline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82658" y="7533408"/>
            <a:ext cx="2420798" cy="891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Cleaning, Validation, AMFI Compliance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98635" y="6206842"/>
            <a:ext cx="2420798" cy="89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Analytics Layer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98635" y="7233104"/>
            <a:ext cx="2420798" cy="1191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EDA, Risk Metrics, Quantitative Analysis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82385" y="2646559"/>
            <a:ext cx="2420798" cy="450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Data Sources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82385" y="3231928"/>
            <a:ext cx="2420798" cy="891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Historical CSV, Live NAV API, Benchmarks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06554" y="2646559"/>
            <a:ext cx="2420798" cy="17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Visualization &amp; Recommendations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06554" y="4554626"/>
            <a:ext cx="2420798" cy="891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Power BI dashboards, Risk-Aware Engine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29223" y="2646559"/>
            <a:ext cx="2420798" cy="89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SQLite Storage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29223" y="3672830"/>
            <a:ext cx="2420798" cy="891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Modular, auditable persistence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2238" y="9182395"/>
            <a:ext cx="17217923" cy="30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"/>
              </a:lnSpc>
            </a:pPr>
            <a:r>
              <a:rPr lang="en-US" sz="15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A modular, auditable architecture ensures data integrity at every stage — from raw ingestion through to investor-facing recommendations and executive dashboards.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5671321" y="8709058"/>
            <a:ext cx="3086100" cy="2036826"/>
            <a:chOff x="0" y="0"/>
            <a:chExt cx="635000" cy="419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635000" cy="40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805463"/>
            <a:ext cx="2356247" cy="467316"/>
            <a:chOff x="0" y="0"/>
            <a:chExt cx="3141662" cy="6230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41599" cy="623062"/>
            </a:xfrm>
            <a:custGeom>
              <a:avLst/>
              <a:gdLst/>
              <a:ahLst/>
              <a:cxnLst/>
              <a:rect r="r" b="b" t="t" l="l"/>
              <a:pathLst>
                <a:path h="623062" w="3141599">
                  <a:moveTo>
                    <a:pt x="0" y="246634"/>
                  </a:moveTo>
                  <a:cubicBezTo>
                    <a:pt x="0" y="110490"/>
                    <a:pt x="110490" y="0"/>
                    <a:pt x="246634" y="0"/>
                  </a:cubicBezTo>
                  <a:lnTo>
                    <a:pt x="2894965" y="0"/>
                  </a:lnTo>
                  <a:cubicBezTo>
                    <a:pt x="3031236" y="0"/>
                    <a:pt x="3141599" y="110490"/>
                    <a:pt x="3141599" y="246634"/>
                  </a:cubicBezTo>
                  <a:lnTo>
                    <a:pt x="3141599" y="376428"/>
                  </a:lnTo>
                  <a:cubicBezTo>
                    <a:pt x="3141599" y="512699"/>
                    <a:pt x="3031109" y="623062"/>
                    <a:pt x="2894965" y="623062"/>
                  </a:cubicBezTo>
                  <a:lnTo>
                    <a:pt x="246634" y="623062"/>
                  </a:lnTo>
                  <a:cubicBezTo>
                    <a:pt x="110490" y="623062"/>
                    <a:pt x="0" y="512699"/>
                    <a:pt x="0" y="376428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46277" y="815731"/>
            <a:ext cx="2962570" cy="38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1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DATA ENGINEERING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337224"/>
            <a:ext cx="16303523" cy="83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Engineering a Production-Grade Data Pipeline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2770137"/>
            <a:ext cx="8006210" cy="72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3"/>
              </a:lnSpc>
            </a:pPr>
            <a:r>
              <a:rPr lang="en-US" sz="66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46K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3787673"/>
            <a:ext cx="8006210" cy="41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NAV Records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4271515"/>
            <a:ext cx="8006210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Historical and live data points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89409" y="2770137"/>
            <a:ext cx="8006363" cy="72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3"/>
              </a:lnSpc>
            </a:pPr>
            <a:r>
              <a:rPr lang="en-US" sz="66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32K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89409" y="3787673"/>
            <a:ext cx="8006363" cy="41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Transactions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89409" y="4271515"/>
            <a:ext cx="8006363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Investor-level records processed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238" y="5448005"/>
            <a:ext cx="8006210" cy="72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3"/>
              </a:lnSpc>
            </a:pPr>
            <a:r>
              <a:rPr lang="en-US" sz="66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40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238" y="6465541"/>
            <a:ext cx="8006210" cy="41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Schemes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238" y="6949383"/>
            <a:ext cx="8006210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Across 10 fund houses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89409" y="5448005"/>
            <a:ext cx="8006363" cy="72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3"/>
              </a:lnSpc>
            </a:pPr>
            <a:r>
              <a:rPr lang="en-US" sz="66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9409" y="6465541"/>
            <a:ext cx="8006363" cy="41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Risk Categories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89409" y="6949383"/>
            <a:ext cx="8006363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Conservative to aggressive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2238" y="7603179"/>
            <a:ext cx="16303523" cy="1878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3048"/>
              </a:lnSpc>
              <a:buFont typeface="Arial"/>
              <a:buChar char="•"/>
            </a:pP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10 historical CSV datasets + 5 live NAV API feeds integrated</a:t>
            </a:r>
          </a:p>
          <a:p>
            <a:pPr algn="l" marL="482600" indent="-241300" lvl="1">
              <a:lnSpc>
                <a:spcPts val="3048"/>
              </a:lnSpc>
              <a:buFont typeface="Arial"/>
              <a:buChar char="•"/>
            </a:pP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Automated validation with AMFI compliance checks</a:t>
            </a:r>
          </a:p>
          <a:p>
            <a:pPr algn="l" marL="482600" indent="-241300" lvl="1">
              <a:lnSpc>
                <a:spcPts val="3048"/>
              </a:lnSpc>
              <a:buFont typeface="Arial"/>
              <a:buChar char="•"/>
            </a:pP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Duplicate removal, missing value handling, schema normalization</a:t>
            </a:r>
          </a:p>
          <a:p>
            <a:pPr algn="l" marL="482600" indent="-241300" lvl="1">
              <a:lnSpc>
                <a:spcPts val="3048"/>
              </a:lnSpc>
              <a:buFont typeface="Arial"/>
              <a:buChar char="•"/>
            </a:pP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Only </a:t>
            </a:r>
            <a:r>
              <a:rPr lang="en-US" b="true" sz="20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12 missing values</a:t>
            </a: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detected across YoY growth metrics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5671321" y="8709058"/>
            <a:ext cx="3086100" cy="2036826"/>
            <a:chOff x="0" y="0"/>
            <a:chExt cx="635000" cy="419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635000" cy="40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1036444"/>
            <a:ext cx="3180750" cy="532800"/>
            <a:chOff x="0" y="0"/>
            <a:chExt cx="4241000" cy="710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40911" cy="710311"/>
            </a:xfrm>
            <a:custGeom>
              <a:avLst/>
              <a:gdLst/>
              <a:ahLst/>
              <a:cxnLst/>
              <a:rect r="r" b="b" t="t" l="l"/>
              <a:pathLst>
                <a:path h="710311" w="4240911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3968750" y="0"/>
                  </a:lnTo>
                  <a:cubicBezTo>
                    <a:pt x="4119118" y="0"/>
                    <a:pt x="4240911" y="121920"/>
                    <a:pt x="4240911" y="272161"/>
                  </a:cubicBezTo>
                  <a:lnTo>
                    <a:pt x="4240911" y="438150"/>
                  </a:lnTo>
                  <a:cubicBezTo>
                    <a:pt x="4240911" y="588518"/>
                    <a:pt x="4118991" y="710311"/>
                    <a:pt x="3968750" y="710311"/>
                  </a:cubicBezTo>
                  <a:lnTo>
                    <a:pt x="272161" y="710311"/>
                  </a:lnTo>
                  <a:cubicBezTo>
                    <a:pt x="121920" y="710438"/>
                    <a:pt x="0" y="588518"/>
                    <a:pt x="0" y="438150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62345" y="1035691"/>
            <a:ext cx="3754936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EXPLORATORY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663598"/>
            <a:ext cx="1630352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Industry Growth: The Numbers Tell the Story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3312766"/>
            <a:ext cx="7805890" cy="5618712"/>
            <a:chOff x="0" y="0"/>
            <a:chExt cx="10407853" cy="7491616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0407904" cy="7491603"/>
            </a:xfrm>
            <a:custGeom>
              <a:avLst/>
              <a:gdLst/>
              <a:ahLst/>
              <a:cxnLst/>
              <a:rect r="r" b="b" t="t" l="l"/>
              <a:pathLst>
                <a:path h="7491603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7491603"/>
                  </a:lnTo>
                  <a:lnTo>
                    <a:pt x="0" y="7491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" t="0" r="-19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499406" y="3267818"/>
            <a:ext cx="780589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Key Findings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9406" y="3899002"/>
            <a:ext cx="7805890" cy="312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Folios </a:t>
            </a:r>
            <a:r>
              <a:rPr lang="en-US" b="true" sz="22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doubled</a:t>
            </a: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from 13.26 crore to 26.12 crore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SIP inflows reached </a:t>
            </a:r>
            <a:r>
              <a:rPr lang="en-US" b="true" sz="22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₹31,002 crore</a:t>
            </a: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monthly — a record high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AUM crossed </a:t>
            </a:r>
            <a:r>
              <a:rPr lang="en-US" b="true" sz="22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₹81 lakh crore</a:t>
            </a: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, cementing India's position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Retail participation </a:t>
            </a:r>
            <a:r>
              <a:rPr lang="en-US" b="true" sz="22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accelerated sharply post-2023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499406" y="7341841"/>
            <a:ext cx="7805890" cy="1559128"/>
            <a:chOff x="0" y="0"/>
            <a:chExt cx="10407853" cy="20788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07776" cy="2078863"/>
            </a:xfrm>
            <a:custGeom>
              <a:avLst/>
              <a:gdLst/>
              <a:ahLst/>
              <a:cxnLst/>
              <a:rect r="r" b="b" t="t" l="l"/>
              <a:pathLst>
                <a:path h="2078863" w="10407776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10067544" y="0"/>
                  </a:lnTo>
                  <a:cubicBezTo>
                    <a:pt x="10255503" y="0"/>
                    <a:pt x="10407776" y="152273"/>
                    <a:pt x="10407776" y="340233"/>
                  </a:cubicBezTo>
                  <a:lnTo>
                    <a:pt x="10407776" y="1738630"/>
                  </a:lnTo>
                  <a:cubicBezTo>
                    <a:pt x="10407776" y="1926590"/>
                    <a:pt x="10255503" y="2078863"/>
                    <a:pt x="10067544" y="2078863"/>
                  </a:cubicBezTo>
                  <a:lnTo>
                    <a:pt x="340233" y="2078863"/>
                  </a:lnTo>
                  <a:cubicBezTo>
                    <a:pt x="152273" y="2078863"/>
                    <a:pt x="0" y="1926463"/>
                    <a:pt x="0" y="1738630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782918" y="7752902"/>
            <a:ext cx="354359" cy="283521"/>
            <a:chOff x="0" y="0"/>
            <a:chExt cx="472478" cy="378028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72" t="0" r="-680" b="13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420798" y="7563002"/>
            <a:ext cx="6600977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SIP culture is transforming retail investment behavior at scale.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671321" y="9258300"/>
            <a:ext cx="3086100" cy="1487584"/>
            <a:chOff x="0" y="0"/>
            <a:chExt cx="635000" cy="30608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" cy="306087"/>
            </a:xfrm>
            <a:custGeom>
              <a:avLst/>
              <a:gdLst/>
              <a:ahLst/>
              <a:cxnLst/>
              <a:rect r="r" b="b" t="t" l="l"/>
              <a:pathLst>
                <a:path h="306087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257090"/>
                  </a:lnTo>
                  <a:cubicBezTo>
                    <a:pt x="635000" y="270085"/>
                    <a:pt x="629838" y="282548"/>
                    <a:pt x="620649" y="291736"/>
                  </a:cubicBezTo>
                  <a:cubicBezTo>
                    <a:pt x="611460" y="300925"/>
                    <a:pt x="598998" y="306087"/>
                    <a:pt x="586003" y="306087"/>
                  </a:cubicBezTo>
                  <a:lnTo>
                    <a:pt x="48997" y="306087"/>
                  </a:lnTo>
                  <a:cubicBezTo>
                    <a:pt x="36002" y="306087"/>
                    <a:pt x="23540" y="300925"/>
                    <a:pt x="14351" y="291736"/>
                  </a:cubicBezTo>
                  <a:cubicBezTo>
                    <a:pt x="5162" y="282548"/>
                    <a:pt x="0" y="270085"/>
                    <a:pt x="0" y="257090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635000" cy="296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1031529"/>
            <a:ext cx="2967933" cy="488756"/>
            <a:chOff x="0" y="0"/>
            <a:chExt cx="3957244" cy="6516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57193" cy="651637"/>
            </a:xfrm>
            <a:custGeom>
              <a:avLst/>
              <a:gdLst/>
              <a:ahLst/>
              <a:cxnLst/>
              <a:rect r="r" b="b" t="t" l="l"/>
              <a:pathLst>
                <a:path h="651637" w="3957193">
                  <a:moveTo>
                    <a:pt x="0" y="255143"/>
                  </a:moveTo>
                  <a:cubicBezTo>
                    <a:pt x="0" y="114300"/>
                    <a:pt x="114300" y="0"/>
                    <a:pt x="255143" y="0"/>
                  </a:cubicBezTo>
                  <a:lnTo>
                    <a:pt x="3702050" y="0"/>
                  </a:lnTo>
                  <a:cubicBezTo>
                    <a:pt x="3843020" y="0"/>
                    <a:pt x="3957193" y="114300"/>
                    <a:pt x="3957193" y="255143"/>
                  </a:cubicBezTo>
                  <a:lnTo>
                    <a:pt x="3957193" y="396494"/>
                  </a:lnTo>
                  <a:cubicBezTo>
                    <a:pt x="3957193" y="537464"/>
                    <a:pt x="3842893" y="651637"/>
                    <a:pt x="3702050" y="651637"/>
                  </a:cubicBezTo>
                  <a:lnTo>
                    <a:pt x="255143" y="651637"/>
                  </a:lnTo>
                  <a:cubicBezTo>
                    <a:pt x="114300" y="651637"/>
                    <a:pt x="0" y="537464"/>
                    <a:pt x="0" y="396494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51630" y="1044473"/>
            <a:ext cx="3563541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INVESTOR INTELLIGENCE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600800"/>
            <a:ext cx="16303523" cy="84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2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Who Is Driving India's Mutual Fund Revolution?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3104407"/>
            <a:ext cx="7827616" cy="5870677"/>
            <a:chOff x="0" y="0"/>
            <a:chExt cx="10436822" cy="7827569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0436860" cy="7827518"/>
            </a:xfrm>
            <a:custGeom>
              <a:avLst/>
              <a:gdLst/>
              <a:ahLst/>
              <a:cxnLst/>
              <a:rect r="r" b="b" t="t" l="l"/>
              <a:pathLst>
                <a:path h="7827518" w="10436860">
                  <a:moveTo>
                    <a:pt x="0" y="0"/>
                  </a:moveTo>
                  <a:lnTo>
                    <a:pt x="10436860" y="0"/>
                  </a:lnTo>
                  <a:lnTo>
                    <a:pt x="10436860" y="7827518"/>
                  </a:lnTo>
                  <a:lnTo>
                    <a:pt x="0" y="7827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0" r="0" b="-4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477670" y="3063773"/>
            <a:ext cx="7827616" cy="424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Demographic Insights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77670" y="3671145"/>
            <a:ext cx="7827616" cy="288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0" indent="-241300" lvl="1">
              <a:lnSpc>
                <a:spcPts val="3096"/>
              </a:lnSpc>
              <a:buFont typeface="Arial"/>
              <a:buChar char="•"/>
            </a:pP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Age </a:t>
            </a:r>
            <a:r>
              <a:rPr lang="en-US" b="true" sz="20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26–35</a:t>
            </a: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dominates participation at 38%</a:t>
            </a:r>
          </a:p>
          <a:p>
            <a:pPr algn="l" marL="482600" indent="-241300" lvl="1">
              <a:lnSpc>
                <a:spcPts val="3096"/>
              </a:lnSpc>
              <a:buFont typeface="Arial"/>
              <a:buChar char="•"/>
            </a:pP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Urban T30 cities contribute the </a:t>
            </a:r>
            <a:r>
              <a:rPr lang="en-US" b="true" sz="20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majority</a:t>
            </a: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of inflows</a:t>
            </a:r>
          </a:p>
          <a:p>
            <a:pPr algn="l" marL="482600" indent="-241300" lvl="1">
              <a:lnSpc>
                <a:spcPts val="3096"/>
              </a:lnSpc>
              <a:buFont typeface="Arial"/>
              <a:buChar char="•"/>
            </a:pP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Lumpsum investments dominate total transaction value</a:t>
            </a:r>
          </a:p>
          <a:p>
            <a:pPr algn="l" marL="482600" indent="-241300" lvl="1">
              <a:lnSpc>
                <a:spcPts val="3096"/>
              </a:lnSpc>
              <a:buFont typeface="Arial"/>
              <a:buChar char="•"/>
            </a:pP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Post-2023 entrants show </a:t>
            </a:r>
            <a:r>
              <a:rPr lang="en-US" b="true" sz="20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higher average SIP values</a:t>
            </a:r>
          </a:p>
          <a:p>
            <a:pPr algn="l" marL="482600" indent="-241300" lvl="1">
              <a:lnSpc>
                <a:spcPts val="3096"/>
              </a:lnSpc>
              <a:buFont typeface="Arial"/>
              <a:buChar char="•"/>
            </a:pP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SIP continuity </a:t>
            </a:r>
            <a:r>
              <a:rPr lang="en-US" b="true" sz="20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strongly correlates</a:t>
            </a:r>
            <a:r>
              <a:rPr lang="en-US" sz="20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with long-term returns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671321" y="8709058"/>
            <a:ext cx="3086100" cy="2036826"/>
            <a:chOff x="0" y="0"/>
            <a:chExt cx="635000" cy="419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635000" cy="40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820788"/>
            <a:ext cx="3334941" cy="521646"/>
            <a:chOff x="0" y="0"/>
            <a:chExt cx="4446588" cy="6955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6651" cy="695579"/>
            </a:xfrm>
            <a:custGeom>
              <a:avLst/>
              <a:gdLst/>
              <a:ahLst/>
              <a:cxnLst/>
              <a:rect r="r" b="b" t="t" l="l"/>
              <a:pathLst>
                <a:path h="695579" w="4446651">
                  <a:moveTo>
                    <a:pt x="0" y="267970"/>
                  </a:moveTo>
                  <a:cubicBezTo>
                    <a:pt x="0" y="120015"/>
                    <a:pt x="120015" y="0"/>
                    <a:pt x="267970" y="0"/>
                  </a:cubicBezTo>
                  <a:lnTo>
                    <a:pt x="4178681" y="0"/>
                  </a:lnTo>
                  <a:cubicBezTo>
                    <a:pt x="4326636" y="0"/>
                    <a:pt x="4446651" y="120015"/>
                    <a:pt x="4446651" y="267970"/>
                  </a:cubicBezTo>
                  <a:lnTo>
                    <a:pt x="4446651" y="427609"/>
                  </a:lnTo>
                  <a:cubicBezTo>
                    <a:pt x="4446651" y="575564"/>
                    <a:pt x="4326636" y="695579"/>
                    <a:pt x="4178681" y="695579"/>
                  </a:cubicBezTo>
                  <a:lnTo>
                    <a:pt x="267970" y="695579"/>
                  </a:lnTo>
                  <a:cubicBezTo>
                    <a:pt x="120015" y="695579"/>
                    <a:pt x="0" y="575564"/>
                    <a:pt x="0" y="427609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59669" y="828227"/>
            <a:ext cx="3914480" cy="430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2"/>
              </a:lnSpc>
            </a:pPr>
            <a:r>
              <a:rPr lang="en-US" sz="17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QUANTITATIVE ANALYTICS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423692"/>
            <a:ext cx="16303523" cy="177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Performance Metrics &amp; Risk-Adjusted Returns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3873846"/>
            <a:ext cx="7811395" cy="44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Core Metrics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4508449"/>
            <a:ext cx="7811395" cy="366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3326"/>
              </a:lnSpc>
              <a:buFont typeface="Arial"/>
              <a:buChar char="•"/>
            </a:pPr>
            <a:r>
              <a:rPr lang="en-US" b="true" sz="21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Daily Returns &amp; CAGR</a:t>
            </a:r>
            <a:r>
              <a:rPr lang="en-US" sz="2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— Absolute and annualized performance</a:t>
            </a:r>
          </a:p>
          <a:p>
            <a:pPr algn="l" marL="506730" indent="-253365" lvl="1">
              <a:lnSpc>
                <a:spcPts val="3326"/>
              </a:lnSpc>
              <a:buFont typeface="Arial"/>
              <a:buChar char="•"/>
            </a:pPr>
            <a:r>
              <a:rPr lang="en-US" b="true" sz="21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Sharpe Ratio</a:t>
            </a:r>
            <a:r>
              <a:rPr lang="en-US" sz="2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— (Return − Risk-Free) / Std Dev</a:t>
            </a:r>
          </a:p>
          <a:p>
            <a:pPr algn="l" marL="506730" indent="-253365" lvl="1">
              <a:lnSpc>
                <a:spcPts val="3326"/>
              </a:lnSpc>
              <a:buFont typeface="Arial"/>
              <a:buChar char="•"/>
            </a:pPr>
            <a:r>
              <a:rPr lang="en-US" b="true" sz="21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Sortino Ratio</a:t>
            </a:r>
            <a:r>
              <a:rPr lang="en-US" sz="2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— Downside deviation only</a:t>
            </a:r>
          </a:p>
          <a:p>
            <a:pPr algn="l" marL="506730" indent="-253365" lvl="1">
              <a:lnSpc>
                <a:spcPts val="3326"/>
              </a:lnSpc>
              <a:buFont typeface="Arial"/>
              <a:buChar char="•"/>
            </a:pPr>
            <a:r>
              <a:rPr lang="en-US" b="true" sz="21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Alpha &amp; Beta</a:t>
            </a:r>
            <a:r>
              <a:rPr lang="en-US" sz="2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— Benchmark-relative performance</a:t>
            </a:r>
          </a:p>
          <a:p>
            <a:pPr algn="l" marL="506730" indent="-253365" lvl="1">
              <a:lnSpc>
                <a:spcPts val="3326"/>
              </a:lnSpc>
              <a:buFont typeface="Arial"/>
              <a:buChar char="•"/>
            </a:pPr>
            <a:r>
              <a:rPr lang="en-US" b="true" sz="21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Max Drawdown</a:t>
            </a:r>
            <a:r>
              <a:rPr lang="en-US" sz="2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— Peak-to-trough decline</a:t>
            </a:r>
          </a:p>
          <a:p>
            <a:pPr algn="l" marL="506730" indent="-253365" lvl="1">
              <a:lnSpc>
                <a:spcPts val="3326"/>
              </a:lnSpc>
              <a:buFont typeface="Arial"/>
              <a:buChar char="•"/>
            </a:pPr>
            <a:r>
              <a:rPr lang="en-US" b="true" sz="21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Tracking Error</a:t>
            </a:r>
            <a:r>
              <a:rPr lang="en-US" sz="2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— Active risk vs. benchmark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93891" y="3917604"/>
            <a:ext cx="7811395" cy="3905698"/>
            <a:chOff x="0" y="0"/>
            <a:chExt cx="10415194" cy="5207597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415143" cy="5207635"/>
            </a:xfrm>
            <a:custGeom>
              <a:avLst/>
              <a:gdLst/>
              <a:ahLst/>
              <a:cxnLst/>
              <a:rect r="r" b="b" t="t" l="l"/>
              <a:pathLst>
                <a:path h="5207635" w="10415143">
                  <a:moveTo>
                    <a:pt x="0" y="0"/>
                  </a:moveTo>
                  <a:lnTo>
                    <a:pt x="10415143" y="0"/>
                  </a:lnTo>
                  <a:lnTo>
                    <a:pt x="10415143" y="5207635"/>
                  </a:lnTo>
                  <a:lnTo>
                    <a:pt x="0" y="5207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0" r="0" b="-59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92238" y="8494662"/>
            <a:ext cx="1630352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Funds with CAGR above 30% demonstrated superior Sharpe ratios — validating risk-adjusted performance as the primary selection criterion.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5752712" y="9182633"/>
            <a:ext cx="3086100" cy="2036826"/>
            <a:chOff x="0" y="0"/>
            <a:chExt cx="635000" cy="419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635000" cy="40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779707"/>
            <a:ext cx="1276350" cy="220856"/>
            <a:chOff x="0" y="0"/>
            <a:chExt cx="1701800" cy="2944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1800" cy="294513"/>
            </a:xfrm>
            <a:custGeom>
              <a:avLst/>
              <a:gdLst/>
              <a:ahLst/>
              <a:cxnLst/>
              <a:rect r="r" b="b" t="t" l="l"/>
              <a:pathLst>
                <a:path h="294513" w="1701800">
                  <a:moveTo>
                    <a:pt x="0" y="136144"/>
                  </a:moveTo>
                  <a:cubicBezTo>
                    <a:pt x="0" y="60960"/>
                    <a:pt x="60960" y="0"/>
                    <a:pt x="136144" y="0"/>
                  </a:cubicBezTo>
                  <a:lnTo>
                    <a:pt x="1565656" y="0"/>
                  </a:lnTo>
                  <a:cubicBezTo>
                    <a:pt x="1640840" y="0"/>
                    <a:pt x="1701800" y="60960"/>
                    <a:pt x="1701800" y="136144"/>
                  </a:cubicBezTo>
                  <a:lnTo>
                    <a:pt x="1701800" y="158369"/>
                  </a:lnTo>
                  <a:cubicBezTo>
                    <a:pt x="1701800" y="233553"/>
                    <a:pt x="1640840" y="294513"/>
                    <a:pt x="1565656" y="294513"/>
                  </a:cubicBezTo>
                  <a:lnTo>
                    <a:pt x="136144" y="294513"/>
                  </a:lnTo>
                  <a:cubicBezTo>
                    <a:pt x="60960" y="294513"/>
                    <a:pt x="0" y="233553"/>
                    <a:pt x="0" y="158369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7220" y="812597"/>
            <a:ext cx="2020786" cy="14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"/>
              </a:lnSpc>
            </a:pPr>
            <a:r>
              <a:rPr lang="en-US" sz="8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RISK INTELLIGENCE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019327"/>
            <a:ext cx="1630352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Risk Analytics &amp; Portfolio Concentration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878438"/>
            <a:ext cx="7978826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Risk Framework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5161207"/>
            <a:ext cx="7978826" cy="77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5430" indent="-132715" lvl="1">
              <a:lnSpc>
                <a:spcPts val="1320"/>
              </a:lnSpc>
              <a:buFont typeface="Arial"/>
              <a:buChar char="•"/>
            </a:pPr>
            <a:r>
              <a:rPr lang="en-US" b="true" sz="11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Historical VaR (95%)</a:t>
            </a:r>
            <a:r>
              <a:rPr lang="en-US" sz="1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— Maximum expected loss at 95% confidence</a:t>
            </a:r>
          </a:p>
          <a:p>
            <a:pPr algn="l" marL="265430" indent="-132715" lvl="1">
              <a:lnSpc>
                <a:spcPts val="1320"/>
              </a:lnSpc>
              <a:buFont typeface="Arial"/>
              <a:buChar char="•"/>
            </a:pPr>
            <a:r>
              <a:rPr lang="en-US" b="true" sz="11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Conditional VaR</a:t>
            </a:r>
            <a:r>
              <a:rPr lang="en-US" sz="1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— Expected loss beyond the VaR threshold</a:t>
            </a:r>
          </a:p>
          <a:p>
            <a:pPr algn="l" marL="265430" indent="-132715" lvl="1">
              <a:lnSpc>
                <a:spcPts val="1320"/>
              </a:lnSpc>
              <a:buFont typeface="Arial"/>
              <a:buChar char="•"/>
            </a:pPr>
            <a:r>
              <a:rPr lang="en-US" b="true" sz="11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Rolling Sharpe Ratio</a:t>
            </a:r>
            <a:r>
              <a:rPr lang="en-US" sz="1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— Time-varying risk-adjusted performance</a:t>
            </a:r>
          </a:p>
          <a:p>
            <a:pPr algn="l" marL="265430" indent="-132715" lvl="1">
              <a:lnSpc>
                <a:spcPts val="1320"/>
              </a:lnSpc>
              <a:buFont typeface="Arial"/>
              <a:buChar char="•"/>
            </a:pPr>
            <a:r>
              <a:rPr lang="en-US" b="true" sz="11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Drawdown Analysis</a:t>
            </a:r>
            <a:r>
              <a:rPr lang="en-US" sz="1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— Recovery timelines and depth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2238" y="6014437"/>
            <a:ext cx="7978826" cy="382791"/>
            <a:chOff x="0" y="0"/>
            <a:chExt cx="10638434" cy="5103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38537" cy="510540"/>
            </a:xfrm>
            <a:custGeom>
              <a:avLst/>
              <a:gdLst/>
              <a:ahLst/>
              <a:cxnLst/>
              <a:rect r="r" b="b" t="t" l="l"/>
              <a:pathLst>
                <a:path h="510540" w="10638537">
                  <a:moveTo>
                    <a:pt x="0" y="170180"/>
                  </a:moveTo>
                  <a:cubicBezTo>
                    <a:pt x="0" y="76200"/>
                    <a:pt x="76200" y="0"/>
                    <a:pt x="170180" y="0"/>
                  </a:cubicBezTo>
                  <a:lnTo>
                    <a:pt x="10468356" y="0"/>
                  </a:lnTo>
                  <a:cubicBezTo>
                    <a:pt x="10562337" y="0"/>
                    <a:pt x="10638537" y="76200"/>
                    <a:pt x="10638537" y="170180"/>
                  </a:cubicBezTo>
                  <a:lnTo>
                    <a:pt x="10638537" y="340360"/>
                  </a:lnTo>
                  <a:cubicBezTo>
                    <a:pt x="10638537" y="434340"/>
                    <a:pt x="10562337" y="510540"/>
                    <a:pt x="10468356" y="510540"/>
                  </a:cubicBezTo>
                  <a:lnTo>
                    <a:pt x="170180" y="510540"/>
                  </a:lnTo>
                  <a:cubicBezTo>
                    <a:pt x="76200" y="510413"/>
                    <a:pt x="0" y="434213"/>
                    <a:pt x="0" y="340233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33923" y="6191545"/>
            <a:ext cx="177108" cy="141684"/>
            <a:chOff x="0" y="0"/>
            <a:chExt cx="236144" cy="188912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236093" cy="188849"/>
            </a:xfrm>
            <a:custGeom>
              <a:avLst/>
              <a:gdLst/>
              <a:ahLst/>
              <a:cxnLst/>
              <a:rect r="r" b="b" t="t" l="l"/>
              <a:pathLst>
                <a:path h="188849" w="236093">
                  <a:moveTo>
                    <a:pt x="0" y="0"/>
                  </a:moveTo>
                  <a:lnTo>
                    <a:pt x="236093" y="0"/>
                  </a:lnTo>
                  <a:lnTo>
                    <a:pt x="236093" y="188849"/>
                  </a:lnTo>
                  <a:lnTo>
                    <a:pt x="0" y="188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67" t="0" r="-688" b="-33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52715" y="6094514"/>
            <a:ext cx="8291065" cy="18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Aggressive equity funds showed highest VaR; defensive funds maintained superior downside protection.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26461" y="1657645"/>
            <a:ext cx="7978826" cy="7978826"/>
            <a:chOff x="0" y="0"/>
            <a:chExt cx="10638434" cy="10638434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638409" cy="10638409"/>
            </a:xfrm>
            <a:custGeom>
              <a:avLst/>
              <a:gdLst/>
              <a:ahLst/>
              <a:cxnLst/>
              <a:rect r="r" b="b" t="t" l="l"/>
              <a:pathLst>
                <a:path h="10638409" w="10638409">
                  <a:moveTo>
                    <a:pt x="0" y="0"/>
                  </a:moveTo>
                  <a:lnTo>
                    <a:pt x="10638409" y="0"/>
                  </a:lnTo>
                  <a:lnTo>
                    <a:pt x="10638409" y="10638409"/>
                  </a:lnTo>
                  <a:lnTo>
                    <a:pt x="0" y="10638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82713" y="9786195"/>
            <a:ext cx="5406333" cy="774506"/>
            <a:chOff x="0" y="0"/>
            <a:chExt cx="7208444" cy="10326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08393" cy="1032637"/>
            </a:xfrm>
            <a:custGeom>
              <a:avLst/>
              <a:gdLst/>
              <a:ahLst/>
              <a:cxnLst/>
              <a:rect r="r" b="b" t="t" l="l"/>
              <a:pathLst>
                <a:path h="1032637" w="7208393">
                  <a:moveTo>
                    <a:pt x="0" y="174371"/>
                  </a:moveTo>
                  <a:cubicBezTo>
                    <a:pt x="0" y="78105"/>
                    <a:pt x="78105" y="0"/>
                    <a:pt x="174371" y="0"/>
                  </a:cubicBezTo>
                  <a:lnTo>
                    <a:pt x="7034022" y="0"/>
                  </a:lnTo>
                  <a:cubicBezTo>
                    <a:pt x="7130288" y="0"/>
                    <a:pt x="7208393" y="78105"/>
                    <a:pt x="7208393" y="174371"/>
                  </a:cubicBezTo>
                  <a:lnTo>
                    <a:pt x="7208393" y="858266"/>
                  </a:lnTo>
                  <a:cubicBezTo>
                    <a:pt x="7208393" y="954532"/>
                    <a:pt x="7130288" y="1032637"/>
                    <a:pt x="7034022" y="1032637"/>
                  </a:cubicBezTo>
                  <a:lnTo>
                    <a:pt x="174371" y="1032637"/>
                  </a:lnTo>
                  <a:cubicBezTo>
                    <a:pt x="78105" y="1032637"/>
                    <a:pt x="0" y="954532"/>
                    <a:pt x="0" y="858266"/>
                  </a:cubicBezTo>
                  <a:close/>
                </a:path>
              </a:pathLst>
            </a:custGeom>
            <a:solidFill>
              <a:srgbClr val="FAFFFA"/>
            </a:solidFill>
            <a:ln w="19050" cap="sq">
              <a:solidFill>
                <a:srgbClr val="CED9CE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152973" y="9946929"/>
            <a:ext cx="5065814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Sector Allocation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2973" y="10201275"/>
            <a:ext cx="5065814" cy="18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HHI concentration metrics reveal diversification quality across schemes.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440834" y="9786195"/>
            <a:ext cx="5406333" cy="774506"/>
            <a:chOff x="0" y="0"/>
            <a:chExt cx="7208444" cy="10326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08393" cy="1032637"/>
            </a:xfrm>
            <a:custGeom>
              <a:avLst/>
              <a:gdLst/>
              <a:ahLst/>
              <a:cxnLst/>
              <a:rect r="r" b="b" t="t" l="l"/>
              <a:pathLst>
                <a:path h="1032637" w="7208393">
                  <a:moveTo>
                    <a:pt x="0" y="174371"/>
                  </a:moveTo>
                  <a:cubicBezTo>
                    <a:pt x="0" y="78105"/>
                    <a:pt x="78105" y="0"/>
                    <a:pt x="174371" y="0"/>
                  </a:cubicBezTo>
                  <a:lnTo>
                    <a:pt x="7034022" y="0"/>
                  </a:lnTo>
                  <a:cubicBezTo>
                    <a:pt x="7130288" y="0"/>
                    <a:pt x="7208393" y="78105"/>
                    <a:pt x="7208393" y="174371"/>
                  </a:cubicBezTo>
                  <a:lnTo>
                    <a:pt x="7208393" y="858266"/>
                  </a:lnTo>
                  <a:cubicBezTo>
                    <a:pt x="7208393" y="954532"/>
                    <a:pt x="7130288" y="1032637"/>
                    <a:pt x="7034022" y="1032637"/>
                  </a:cubicBezTo>
                  <a:lnTo>
                    <a:pt x="174371" y="1032637"/>
                  </a:lnTo>
                  <a:cubicBezTo>
                    <a:pt x="78105" y="1032637"/>
                    <a:pt x="0" y="954532"/>
                    <a:pt x="0" y="858266"/>
                  </a:cubicBezTo>
                  <a:close/>
                </a:path>
              </a:pathLst>
            </a:custGeom>
            <a:solidFill>
              <a:srgbClr val="FAFFFA"/>
            </a:solidFill>
            <a:ln w="19050" cap="sq">
              <a:solidFill>
                <a:srgbClr val="CED9CE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6611093" y="9946929"/>
            <a:ext cx="5065814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Concentration Risk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11093" y="10201275"/>
            <a:ext cx="5065814" cy="18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Highly concentrated portfolios carried larger downside risk.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898954" y="9786195"/>
            <a:ext cx="5406333" cy="774506"/>
            <a:chOff x="0" y="0"/>
            <a:chExt cx="7208444" cy="10326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8393" cy="1032637"/>
            </a:xfrm>
            <a:custGeom>
              <a:avLst/>
              <a:gdLst/>
              <a:ahLst/>
              <a:cxnLst/>
              <a:rect r="r" b="b" t="t" l="l"/>
              <a:pathLst>
                <a:path h="1032637" w="7208393">
                  <a:moveTo>
                    <a:pt x="0" y="174371"/>
                  </a:moveTo>
                  <a:cubicBezTo>
                    <a:pt x="0" y="78105"/>
                    <a:pt x="78105" y="0"/>
                    <a:pt x="174371" y="0"/>
                  </a:cubicBezTo>
                  <a:lnTo>
                    <a:pt x="7034022" y="0"/>
                  </a:lnTo>
                  <a:cubicBezTo>
                    <a:pt x="7130288" y="0"/>
                    <a:pt x="7208393" y="78105"/>
                    <a:pt x="7208393" y="174371"/>
                  </a:cubicBezTo>
                  <a:lnTo>
                    <a:pt x="7208393" y="858266"/>
                  </a:lnTo>
                  <a:cubicBezTo>
                    <a:pt x="7208393" y="954532"/>
                    <a:pt x="7130288" y="1032637"/>
                    <a:pt x="7034022" y="1032637"/>
                  </a:cubicBezTo>
                  <a:lnTo>
                    <a:pt x="174371" y="1032637"/>
                  </a:lnTo>
                  <a:cubicBezTo>
                    <a:pt x="78105" y="1032637"/>
                    <a:pt x="0" y="954532"/>
                    <a:pt x="0" y="858266"/>
                  </a:cubicBezTo>
                  <a:close/>
                </a:path>
              </a:pathLst>
            </a:custGeom>
            <a:solidFill>
              <a:srgbClr val="FAFFFA"/>
            </a:solidFill>
            <a:ln w="19050" cap="sq">
              <a:solidFill>
                <a:srgbClr val="CED9CE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2069213" y="9946929"/>
            <a:ext cx="5065814" cy="23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Diversification Benefit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69213" y="10201275"/>
            <a:ext cx="5065814" cy="18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Diversified portfolios exhibited significantly lower volatility.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0" y="9505335"/>
            <a:ext cx="18757421" cy="1240549"/>
            <a:chOff x="0" y="0"/>
            <a:chExt cx="3859552" cy="25525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859552" cy="255257"/>
            </a:xfrm>
            <a:custGeom>
              <a:avLst/>
              <a:gdLst/>
              <a:ahLst/>
              <a:cxnLst/>
              <a:rect r="r" b="b" t="t" l="l"/>
              <a:pathLst>
                <a:path h="255257" w="3859552">
                  <a:moveTo>
                    <a:pt x="8061" y="0"/>
                  </a:moveTo>
                  <a:lnTo>
                    <a:pt x="3851490" y="0"/>
                  </a:lnTo>
                  <a:cubicBezTo>
                    <a:pt x="3853628" y="0"/>
                    <a:pt x="3855679" y="849"/>
                    <a:pt x="3857191" y="2361"/>
                  </a:cubicBezTo>
                  <a:cubicBezTo>
                    <a:pt x="3858702" y="3873"/>
                    <a:pt x="3859552" y="5923"/>
                    <a:pt x="3859552" y="8061"/>
                  </a:cubicBezTo>
                  <a:lnTo>
                    <a:pt x="3859552" y="247196"/>
                  </a:lnTo>
                  <a:cubicBezTo>
                    <a:pt x="3859552" y="249334"/>
                    <a:pt x="3858702" y="251384"/>
                    <a:pt x="3857191" y="252896"/>
                  </a:cubicBezTo>
                  <a:cubicBezTo>
                    <a:pt x="3855679" y="254408"/>
                    <a:pt x="3853628" y="255257"/>
                    <a:pt x="3851490" y="255257"/>
                  </a:cubicBezTo>
                  <a:lnTo>
                    <a:pt x="8061" y="255257"/>
                  </a:lnTo>
                  <a:cubicBezTo>
                    <a:pt x="5923" y="255257"/>
                    <a:pt x="3873" y="254408"/>
                    <a:pt x="2361" y="252896"/>
                  </a:cubicBezTo>
                  <a:cubicBezTo>
                    <a:pt x="849" y="251384"/>
                    <a:pt x="0" y="249334"/>
                    <a:pt x="0" y="247196"/>
                  </a:cubicBezTo>
                  <a:lnTo>
                    <a:pt x="0" y="8061"/>
                  </a:lnTo>
                  <a:cubicBezTo>
                    <a:pt x="0" y="5923"/>
                    <a:pt x="849" y="3873"/>
                    <a:pt x="2361" y="2361"/>
                  </a:cubicBezTo>
                  <a:cubicBezTo>
                    <a:pt x="3873" y="849"/>
                    <a:pt x="5923" y="0"/>
                    <a:pt x="8061" y="0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3859552" cy="245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819750"/>
            <a:ext cx="2342702" cy="318049"/>
            <a:chOff x="0" y="0"/>
            <a:chExt cx="3123603" cy="4240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23565" cy="424053"/>
            </a:xfrm>
            <a:custGeom>
              <a:avLst/>
              <a:gdLst/>
              <a:ahLst/>
              <a:cxnLst/>
              <a:rect r="r" b="b" t="t" l="l"/>
              <a:pathLst>
                <a:path h="424053" w="312356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940685" y="0"/>
                  </a:lnTo>
                  <a:cubicBezTo>
                    <a:pt x="3041650" y="0"/>
                    <a:pt x="3123565" y="81915"/>
                    <a:pt x="3123565" y="182880"/>
                  </a:cubicBezTo>
                  <a:lnTo>
                    <a:pt x="3123565" y="241173"/>
                  </a:lnTo>
                  <a:cubicBezTo>
                    <a:pt x="3123565" y="342138"/>
                    <a:pt x="3041650" y="424053"/>
                    <a:pt x="2940685" y="424053"/>
                  </a:cubicBezTo>
                  <a:lnTo>
                    <a:pt x="182880" y="424053"/>
                  </a:lnTo>
                  <a:cubicBezTo>
                    <a:pt x="81915" y="424053"/>
                    <a:pt x="0" y="342138"/>
                    <a:pt x="0" y="241173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06538" y="848325"/>
            <a:ext cx="3028502" cy="232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8"/>
              </a:lnSpc>
            </a:pPr>
            <a:r>
              <a:rPr lang="en-US" sz="12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RECOMMENDATION ENGINE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169937"/>
            <a:ext cx="16303523" cy="61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7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Risk-Aware Fund Recommendations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356202" y="1976285"/>
            <a:ext cx="9575606" cy="5683148"/>
            <a:chOff x="0" y="0"/>
            <a:chExt cx="12767475" cy="7577531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2767437" cy="7577582"/>
            </a:xfrm>
            <a:custGeom>
              <a:avLst/>
              <a:gdLst/>
              <a:ahLst/>
              <a:cxnLst/>
              <a:rect r="r" b="b" t="t" l="l"/>
              <a:pathLst>
                <a:path h="7577582" w="12767437">
                  <a:moveTo>
                    <a:pt x="0" y="0"/>
                  </a:moveTo>
                  <a:lnTo>
                    <a:pt x="12767437" y="0"/>
                  </a:lnTo>
                  <a:lnTo>
                    <a:pt x="12767437" y="7577582"/>
                  </a:lnTo>
                  <a:lnTo>
                    <a:pt x="0" y="757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" t="0" r="-5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020958" y="5882669"/>
            <a:ext cx="2380278" cy="137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Top 3 Recommendations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21164" y="6111935"/>
            <a:ext cx="2380278" cy="9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Multi‑Criteria Filter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72450" y="6111935"/>
            <a:ext cx="2380278" cy="9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Risk Profiling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7774781"/>
            <a:ext cx="17217923" cy="28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5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Each investor profile receives a personalized, explainable shortlist — filtered by Sharpe ranking, drawdown constraints, and category suitability.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238" y="8202063"/>
            <a:ext cx="5349183" cy="1265044"/>
            <a:chOff x="0" y="0"/>
            <a:chExt cx="7132244" cy="16867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32193" cy="1686687"/>
            </a:xfrm>
            <a:custGeom>
              <a:avLst/>
              <a:gdLst/>
              <a:ahLst/>
              <a:cxnLst/>
              <a:rect r="r" b="b" t="t" l="l"/>
              <a:pathLst>
                <a:path h="1686687" w="7132193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903593" y="0"/>
                  </a:lnTo>
                  <a:cubicBezTo>
                    <a:pt x="7029831" y="0"/>
                    <a:pt x="7132193" y="102362"/>
                    <a:pt x="7132193" y="228600"/>
                  </a:cubicBezTo>
                  <a:lnTo>
                    <a:pt x="7132193" y="1458087"/>
                  </a:lnTo>
                  <a:cubicBezTo>
                    <a:pt x="7132193" y="1584325"/>
                    <a:pt x="7029831" y="1686687"/>
                    <a:pt x="6903593" y="1686687"/>
                  </a:cubicBezTo>
                  <a:lnTo>
                    <a:pt x="228600" y="1686687"/>
                  </a:lnTo>
                  <a:cubicBezTo>
                    <a:pt x="102362" y="1686687"/>
                    <a:pt x="0" y="1584325"/>
                    <a:pt x="0" y="1458087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82738" y="8383038"/>
            <a:ext cx="4968183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Low Risk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2738" y="8738445"/>
            <a:ext cx="496818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5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Liquid &amp; debt funds with minimal drawdown and stable returns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469409" y="8202063"/>
            <a:ext cx="5349183" cy="1265044"/>
            <a:chOff x="0" y="0"/>
            <a:chExt cx="7132244" cy="16867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32193" cy="1686687"/>
            </a:xfrm>
            <a:custGeom>
              <a:avLst/>
              <a:gdLst/>
              <a:ahLst/>
              <a:cxnLst/>
              <a:rect r="r" b="b" t="t" l="l"/>
              <a:pathLst>
                <a:path h="1686687" w="7132193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903593" y="0"/>
                  </a:lnTo>
                  <a:cubicBezTo>
                    <a:pt x="7029831" y="0"/>
                    <a:pt x="7132193" y="102362"/>
                    <a:pt x="7132193" y="228600"/>
                  </a:cubicBezTo>
                  <a:lnTo>
                    <a:pt x="7132193" y="1458087"/>
                  </a:lnTo>
                  <a:cubicBezTo>
                    <a:pt x="7132193" y="1584325"/>
                    <a:pt x="7029831" y="1686687"/>
                    <a:pt x="6903593" y="1686687"/>
                  </a:cubicBezTo>
                  <a:lnTo>
                    <a:pt x="228600" y="1686687"/>
                  </a:lnTo>
                  <a:cubicBezTo>
                    <a:pt x="102362" y="1686687"/>
                    <a:pt x="0" y="1584325"/>
                    <a:pt x="0" y="1458087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659909" y="8383038"/>
            <a:ext cx="4968183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Moderate Risk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59909" y="8738445"/>
            <a:ext cx="4968183" cy="28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5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Hybrid &amp; balanced funds with strong Sharpe ratios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946579" y="8202063"/>
            <a:ext cx="5349183" cy="1265044"/>
            <a:chOff x="0" y="0"/>
            <a:chExt cx="7132244" cy="16867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32193" cy="1686687"/>
            </a:xfrm>
            <a:custGeom>
              <a:avLst/>
              <a:gdLst/>
              <a:ahLst/>
              <a:cxnLst/>
              <a:rect r="r" b="b" t="t" l="l"/>
              <a:pathLst>
                <a:path h="1686687" w="7132193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903593" y="0"/>
                  </a:lnTo>
                  <a:cubicBezTo>
                    <a:pt x="7029831" y="0"/>
                    <a:pt x="7132193" y="102362"/>
                    <a:pt x="7132193" y="228600"/>
                  </a:cubicBezTo>
                  <a:lnTo>
                    <a:pt x="7132193" y="1458087"/>
                  </a:lnTo>
                  <a:cubicBezTo>
                    <a:pt x="7132193" y="1584325"/>
                    <a:pt x="7029831" y="1686687"/>
                    <a:pt x="6903593" y="1686687"/>
                  </a:cubicBezTo>
                  <a:lnTo>
                    <a:pt x="228600" y="1686687"/>
                  </a:lnTo>
                  <a:cubicBezTo>
                    <a:pt x="102362" y="1686687"/>
                    <a:pt x="0" y="1584325"/>
                    <a:pt x="0" y="1458087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137079" y="8383038"/>
            <a:ext cx="4968183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High Risk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37079" y="8738445"/>
            <a:ext cx="4968183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5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Equity funds with superior CAGR and acceptable drawdown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5671321" y="9609982"/>
            <a:ext cx="3086100" cy="1135902"/>
            <a:chOff x="0" y="0"/>
            <a:chExt cx="635000" cy="23372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" cy="233725"/>
            </a:xfrm>
            <a:custGeom>
              <a:avLst/>
              <a:gdLst/>
              <a:ahLst/>
              <a:cxnLst/>
              <a:rect r="r" b="b" t="t" l="l"/>
              <a:pathLst>
                <a:path h="233725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184728"/>
                  </a:lnTo>
                  <a:cubicBezTo>
                    <a:pt x="635000" y="197723"/>
                    <a:pt x="629838" y="210185"/>
                    <a:pt x="620649" y="219374"/>
                  </a:cubicBezTo>
                  <a:cubicBezTo>
                    <a:pt x="611460" y="228563"/>
                    <a:pt x="598998" y="233725"/>
                    <a:pt x="586003" y="233725"/>
                  </a:cubicBezTo>
                  <a:lnTo>
                    <a:pt x="48997" y="233725"/>
                  </a:lnTo>
                  <a:cubicBezTo>
                    <a:pt x="36002" y="233725"/>
                    <a:pt x="23540" y="228563"/>
                    <a:pt x="14351" y="219374"/>
                  </a:cubicBezTo>
                  <a:cubicBezTo>
                    <a:pt x="5162" y="210185"/>
                    <a:pt x="0" y="197723"/>
                    <a:pt x="0" y="184728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635000" cy="224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840134"/>
            <a:ext cx="2372763" cy="365522"/>
            <a:chOff x="0" y="0"/>
            <a:chExt cx="3163684" cy="4873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63570" cy="487299"/>
            </a:xfrm>
            <a:custGeom>
              <a:avLst/>
              <a:gdLst/>
              <a:ahLst/>
              <a:cxnLst/>
              <a:rect r="r" b="b" t="t" l="l"/>
              <a:pathLst>
                <a:path h="487299" w="3163570">
                  <a:moveTo>
                    <a:pt x="0" y="204089"/>
                  </a:moveTo>
                  <a:cubicBezTo>
                    <a:pt x="0" y="91440"/>
                    <a:pt x="91440" y="0"/>
                    <a:pt x="204089" y="0"/>
                  </a:cubicBezTo>
                  <a:lnTo>
                    <a:pt x="2959481" y="0"/>
                  </a:lnTo>
                  <a:cubicBezTo>
                    <a:pt x="3072257" y="0"/>
                    <a:pt x="3163570" y="91440"/>
                    <a:pt x="3163570" y="204089"/>
                  </a:cubicBezTo>
                  <a:lnTo>
                    <a:pt x="3163570" y="283210"/>
                  </a:lnTo>
                  <a:cubicBezTo>
                    <a:pt x="3163570" y="395986"/>
                    <a:pt x="3072130" y="487299"/>
                    <a:pt x="2959481" y="487299"/>
                  </a:cubicBezTo>
                  <a:lnTo>
                    <a:pt x="204089" y="487299"/>
                  </a:lnTo>
                  <a:cubicBezTo>
                    <a:pt x="91440" y="487426"/>
                    <a:pt x="0" y="395986"/>
                    <a:pt x="0" y="283210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19778" y="856212"/>
            <a:ext cx="303207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"/>
              </a:lnSpc>
            </a:pPr>
            <a:r>
              <a:rPr lang="en-US" sz="13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DASHBOARD &amp;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250309"/>
            <a:ext cx="16303523" cy="68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Power BI Dashboard &amp; Key Business Insights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2352380"/>
            <a:ext cx="6745634" cy="3834260"/>
            <a:chOff x="0" y="0"/>
            <a:chExt cx="8994178" cy="5112347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8994140" cy="5112385"/>
            </a:xfrm>
            <a:custGeom>
              <a:avLst/>
              <a:gdLst/>
              <a:ahLst/>
              <a:cxnLst/>
              <a:rect r="r" b="b" t="t" l="l"/>
              <a:pathLst>
                <a:path h="5112385" w="8994140">
                  <a:moveTo>
                    <a:pt x="0" y="0"/>
                  </a:moveTo>
                  <a:lnTo>
                    <a:pt x="8994140" y="0"/>
                  </a:lnTo>
                  <a:lnTo>
                    <a:pt x="8994140" y="5112385"/>
                  </a:lnTo>
                  <a:lnTo>
                    <a:pt x="0" y="5112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590457" y="3203819"/>
            <a:ext cx="6714677" cy="33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Four Dashboard Pages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90457" y="3647780"/>
            <a:ext cx="6714677" cy="140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6080" indent="-193040" lvl="1">
              <a:lnSpc>
                <a:spcPts val="2246"/>
              </a:lnSpc>
              <a:buFont typeface="Arial"/>
              <a:buChar char="•"/>
            </a:pPr>
            <a:r>
              <a:rPr lang="en-US" b="true" sz="16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Industry Overview</a:t>
            </a:r>
            <a:r>
              <a:rPr lang="en-US" sz="1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— AUM, folios, SIP trends</a:t>
            </a:r>
          </a:p>
          <a:p>
            <a:pPr algn="l" marL="386080" indent="-193040" lvl="1">
              <a:lnSpc>
                <a:spcPts val="2246"/>
              </a:lnSpc>
              <a:buFont typeface="Arial"/>
              <a:buChar char="•"/>
            </a:pPr>
            <a:r>
              <a:rPr lang="en-US" b="true" sz="16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Fund Performance</a:t>
            </a:r>
            <a:r>
              <a:rPr lang="en-US" sz="1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— Returns, rankings, risk metrics</a:t>
            </a:r>
          </a:p>
          <a:p>
            <a:pPr algn="l" marL="386080" indent="-193040" lvl="1">
              <a:lnSpc>
                <a:spcPts val="2246"/>
              </a:lnSpc>
              <a:buFont typeface="Arial"/>
              <a:buChar char="•"/>
            </a:pPr>
            <a:r>
              <a:rPr lang="en-US" b="true" sz="16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Investor Analytics</a:t>
            </a:r>
            <a:r>
              <a:rPr lang="en-US" sz="1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— Demographics, cohort analysis</a:t>
            </a:r>
          </a:p>
          <a:p>
            <a:pPr algn="l" marL="386080" indent="-193040" lvl="1">
              <a:lnSpc>
                <a:spcPts val="2246"/>
              </a:lnSpc>
              <a:buFont typeface="Arial"/>
              <a:buChar char="•"/>
            </a:pPr>
            <a:r>
              <a:rPr lang="en-US" b="true" sz="1600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SIP &amp; Market Trends</a:t>
            </a:r>
            <a:r>
              <a:rPr lang="en-US" sz="1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— Inflows, continuity, benchmarks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90457" y="5149301"/>
            <a:ext cx="6714677" cy="6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Interactive slicers, drill-through navigation, and dynamic filtering enable self-service exploration for analysts and executives.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2238" y="6986435"/>
            <a:ext cx="5328199" cy="1150439"/>
            <a:chOff x="0" y="0"/>
            <a:chExt cx="7104266" cy="15339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04253" cy="1533779"/>
            </a:xfrm>
            <a:custGeom>
              <a:avLst/>
              <a:gdLst/>
              <a:ahLst/>
              <a:cxnLst/>
              <a:rect r="r" b="b" t="t" l="l"/>
              <a:pathLst>
                <a:path h="1533779" w="7104253">
                  <a:moveTo>
                    <a:pt x="0" y="255143"/>
                  </a:moveTo>
                  <a:cubicBezTo>
                    <a:pt x="0" y="114300"/>
                    <a:pt x="114300" y="0"/>
                    <a:pt x="255143" y="0"/>
                  </a:cubicBezTo>
                  <a:lnTo>
                    <a:pt x="6849110" y="0"/>
                  </a:lnTo>
                  <a:cubicBezTo>
                    <a:pt x="6990080" y="0"/>
                    <a:pt x="7104253" y="114300"/>
                    <a:pt x="7104253" y="255143"/>
                  </a:cubicBezTo>
                  <a:lnTo>
                    <a:pt x="7104253" y="1278636"/>
                  </a:lnTo>
                  <a:cubicBezTo>
                    <a:pt x="7104253" y="1419606"/>
                    <a:pt x="6989953" y="1533779"/>
                    <a:pt x="6849110" y="1533779"/>
                  </a:cubicBezTo>
                  <a:lnTo>
                    <a:pt x="255143" y="1533779"/>
                  </a:lnTo>
                  <a:cubicBezTo>
                    <a:pt x="114300" y="1533906"/>
                    <a:pt x="0" y="1419733"/>
                    <a:pt x="0" y="1278763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04760" y="7198966"/>
            <a:ext cx="4903146" cy="33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SIP Inflows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4760" y="7579071"/>
            <a:ext cx="4903146" cy="34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Record ₹31,002 Cr monthly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479829" y="6986435"/>
            <a:ext cx="5328199" cy="1150439"/>
            <a:chOff x="0" y="0"/>
            <a:chExt cx="7104266" cy="15339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04253" cy="1533779"/>
            </a:xfrm>
            <a:custGeom>
              <a:avLst/>
              <a:gdLst/>
              <a:ahLst/>
              <a:cxnLst/>
              <a:rect r="r" b="b" t="t" l="l"/>
              <a:pathLst>
                <a:path h="1533779" w="7104253">
                  <a:moveTo>
                    <a:pt x="0" y="255143"/>
                  </a:moveTo>
                  <a:cubicBezTo>
                    <a:pt x="0" y="114300"/>
                    <a:pt x="114300" y="0"/>
                    <a:pt x="255143" y="0"/>
                  </a:cubicBezTo>
                  <a:lnTo>
                    <a:pt x="6849110" y="0"/>
                  </a:lnTo>
                  <a:cubicBezTo>
                    <a:pt x="6990080" y="0"/>
                    <a:pt x="7104253" y="114300"/>
                    <a:pt x="7104253" y="255143"/>
                  </a:cubicBezTo>
                  <a:lnTo>
                    <a:pt x="7104253" y="1278636"/>
                  </a:lnTo>
                  <a:cubicBezTo>
                    <a:pt x="7104253" y="1419606"/>
                    <a:pt x="6989953" y="1533779"/>
                    <a:pt x="6849110" y="1533779"/>
                  </a:cubicBezTo>
                  <a:lnTo>
                    <a:pt x="255143" y="1533779"/>
                  </a:lnTo>
                  <a:cubicBezTo>
                    <a:pt x="114300" y="1533906"/>
                    <a:pt x="0" y="1419733"/>
                    <a:pt x="0" y="1278763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692351" y="7198966"/>
            <a:ext cx="4903146" cy="33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Liquid Funds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92351" y="7579071"/>
            <a:ext cx="4903146" cy="34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Dominate category inflows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967420" y="6986435"/>
            <a:ext cx="5328199" cy="1150439"/>
            <a:chOff x="0" y="0"/>
            <a:chExt cx="7104266" cy="153391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04253" cy="1533779"/>
            </a:xfrm>
            <a:custGeom>
              <a:avLst/>
              <a:gdLst/>
              <a:ahLst/>
              <a:cxnLst/>
              <a:rect r="r" b="b" t="t" l="l"/>
              <a:pathLst>
                <a:path h="1533779" w="7104253">
                  <a:moveTo>
                    <a:pt x="0" y="255143"/>
                  </a:moveTo>
                  <a:cubicBezTo>
                    <a:pt x="0" y="114300"/>
                    <a:pt x="114300" y="0"/>
                    <a:pt x="255143" y="0"/>
                  </a:cubicBezTo>
                  <a:lnTo>
                    <a:pt x="6849110" y="0"/>
                  </a:lnTo>
                  <a:cubicBezTo>
                    <a:pt x="6990080" y="0"/>
                    <a:pt x="7104253" y="114300"/>
                    <a:pt x="7104253" y="255143"/>
                  </a:cubicBezTo>
                  <a:lnTo>
                    <a:pt x="7104253" y="1278636"/>
                  </a:lnTo>
                  <a:cubicBezTo>
                    <a:pt x="7104253" y="1419606"/>
                    <a:pt x="6989953" y="1533779"/>
                    <a:pt x="6849110" y="1533779"/>
                  </a:cubicBezTo>
                  <a:lnTo>
                    <a:pt x="255143" y="1533779"/>
                  </a:lnTo>
                  <a:cubicBezTo>
                    <a:pt x="114300" y="1533906"/>
                    <a:pt x="0" y="1419733"/>
                    <a:pt x="0" y="1278763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179941" y="7198966"/>
            <a:ext cx="4903146" cy="33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Risk-Adjusted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79941" y="7579071"/>
            <a:ext cx="4903146" cy="34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Outperforms raw returns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2238" y="8296275"/>
            <a:ext cx="8071990" cy="1150439"/>
            <a:chOff x="0" y="0"/>
            <a:chExt cx="10762653" cy="15339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62615" cy="1533779"/>
            </a:xfrm>
            <a:custGeom>
              <a:avLst/>
              <a:gdLst/>
              <a:ahLst/>
              <a:cxnLst/>
              <a:rect r="r" b="b" t="t" l="l"/>
              <a:pathLst>
                <a:path h="1533779" w="10762615">
                  <a:moveTo>
                    <a:pt x="0" y="255143"/>
                  </a:moveTo>
                  <a:cubicBezTo>
                    <a:pt x="0" y="114300"/>
                    <a:pt x="114300" y="0"/>
                    <a:pt x="255143" y="0"/>
                  </a:cubicBezTo>
                  <a:lnTo>
                    <a:pt x="10507472" y="0"/>
                  </a:lnTo>
                  <a:cubicBezTo>
                    <a:pt x="10648442" y="0"/>
                    <a:pt x="10762615" y="114300"/>
                    <a:pt x="10762615" y="255143"/>
                  </a:cubicBezTo>
                  <a:lnTo>
                    <a:pt x="10762615" y="1278636"/>
                  </a:lnTo>
                  <a:cubicBezTo>
                    <a:pt x="10762615" y="1419606"/>
                    <a:pt x="10648315" y="1533779"/>
                    <a:pt x="10507472" y="1533779"/>
                  </a:cubicBezTo>
                  <a:lnTo>
                    <a:pt x="255143" y="1533779"/>
                  </a:lnTo>
                  <a:cubicBezTo>
                    <a:pt x="114300" y="1533906"/>
                    <a:pt x="0" y="1419733"/>
                    <a:pt x="0" y="1278763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04760" y="8508806"/>
            <a:ext cx="7646937" cy="33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Younger Investors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4760" y="8888911"/>
            <a:ext cx="7646937" cy="34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Driving participation growth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223619" y="8296275"/>
            <a:ext cx="8071990" cy="1150439"/>
            <a:chOff x="0" y="0"/>
            <a:chExt cx="10762653" cy="153391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62615" cy="1533779"/>
            </a:xfrm>
            <a:custGeom>
              <a:avLst/>
              <a:gdLst/>
              <a:ahLst/>
              <a:cxnLst/>
              <a:rect r="r" b="b" t="t" l="l"/>
              <a:pathLst>
                <a:path h="1533779" w="10762615">
                  <a:moveTo>
                    <a:pt x="0" y="255143"/>
                  </a:moveTo>
                  <a:cubicBezTo>
                    <a:pt x="0" y="114300"/>
                    <a:pt x="114300" y="0"/>
                    <a:pt x="255143" y="0"/>
                  </a:cubicBezTo>
                  <a:lnTo>
                    <a:pt x="10507472" y="0"/>
                  </a:lnTo>
                  <a:cubicBezTo>
                    <a:pt x="10648442" y="0"/>
                    <a:pt x="10762615" y="114300"/>
                    <a:pt x="10762615" y="255143"/>
                  </a:cubicBezTo>
                  <a:lnTo>
                    <a:pt x="10762615" y="1278636"/>
                  </a:lnTo>
                  <a:cubicBezTo>
                    <a:pt x="10762615" y="1419606"/>
                    <a:pt x="10648315" y="1533779"/>
                    <a:pt x="10507472" y="1533779"/>
                  </a:cubicBezTo>
                  <a:lnTo>
                    <a:pt x="255143" y="1533779"/>
                  </a:lnTo>
                  <a:cubicBezTo>
                    <a:pt x="114300" y="1533906"/>
                    <a:pt x="0" y="1419733"/>
                    <a:pt x="0" y="1278763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436151" y="8508806"/>
            <a:ext cx="7646937" cy="33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Diversification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36151" y="8888911"/>
            <a:ext cx="7646937" cy="34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Reduces downside risk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5671321" y="9688982"/>
            <a:ext cx="3086100" cy="1056902"/>
            <a:chOff x="0" y="0"/>
            <a:chExt cx="635000" cy="21746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5000" cy="217469"/>
            </a:xfrm>
            <a:custGeom>
              <a:avLst/>
              <a:gdLst/>
              <a:ahLst/>
              <a:cxnLst/>
              <a:rect r="r" b="b" t="t" l="l"/>
              <a:pathLst>
                <a:path h="217469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168473"/>
                  </a:lnTo>
                  <a:cubicBezTo>
                    <a:pt x="635000" y="181467"/>
                    <a:pt x="629838" y="193930"/>
                    <a:pt x="620649" y="203119"/>
                  </a:cubicBezTo>
                  <a:cubicBezTo>
                    <a:pt x="611460" y="212307"/>
                    <a:pt x="598998" y="217469"/>
                    <a:pt x="586003" y="217469"/>
                  </a:cubicBezTo>
                  <a:lnTo>
                    <a:pt x="48997" y="217469"/>
                  </a:lnTo>
                  <a:cubicBezTo>
                    <a:pt x="36002" y="217469"/>
                    <a:pt x="23540" y="212307"/>
                    <a:pt x="14351" y="203119"/>
                  </a:cubicBezTo>
                  <a:cubicBezTo>
                    <a:pt x="5162" y="193930"/>
                    <a:pt x="0" y="181467"/>
                    <a:pt x="0" y="16847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AFFFA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635000" cy="207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DAHOylr1T3I</dc:identifier>
  <dcterms:modified xsi:type="dcterms:W3CDTF">2011-08-01T06:04:30Z</dcterms:modified>
  <cp:revision>1</cp:revision>
  <dc:title>Mutual-Fund-Analytics-Platform (1).pptx</dc:title>
</cp:coreProperties>
</file>